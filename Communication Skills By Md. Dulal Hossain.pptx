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Raleway"/>
      <p:regular r:id="rId18"/>
      <p:bold r:id="rId19"/>
      <p:italic r:id="rId20"/>
      <p:boldItalic r:id="rId21"/>
    </p:embeddedFont>
    <p:embeddedFont>
      <p:font typeface="Lato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26" roundtripDataSignature="AMtx7mh1BuTeHtrG1PMU0EDuW1hbTh/Ju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aleway-italic.fntdata"/><Relationship Id="rId22" Type="http://schemas.openxmlformats.org/officeDocument/2006/relationships/font" Target="fonts/Lato-regular.fntdata"/><Relationship Id="rId21" Type="http://schemas.openxmlformats.org/officeDocument/2006/relationships/font" Target="fonts/Raleway-boldItalic.fntdata"/><Relationship Id="rId24" Type="http://schemas.openxmlformats.org/officeDocument/2006/relationships/font" Target="fonts/Lato-italic.fntdata"/><Relationship Id="rId23" Type="http://schemas.openxmlformats.org/officeDocument/2006/relationships/font" Target="fonts/Lato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customschemas.google.com/relationships/presentationmetadata" Target="metadata"/><Relationship Id="rId25" Type="http://schemas.openxmlformats.org/officeDocument/2006/relationships/font" Target="fonts/La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Raleway-bold.fntdata"/><Relationship Id="rId18" Type="http://schemas.openxmlformats.org/officeDocument/2006/relationships/font" Target="fonts/Raleway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" name="Google Shape;11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f177305850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g3f17730585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" name="Google Shape;16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2" name="Google Shape;17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" name="Google Shape;18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" name="Google Shape;11;p1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1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1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" name="Google Shape;14;p16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16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1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7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" name="Google Shape;19;p1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0" name="Google Shape;20;p1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1;p1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" name="Google Shape;22;p17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3" name="Google Shape;23;p17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24" name="Google Shape;24;p17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5" name="Google Shape;25;p1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8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8" name="Google Shape;28;p18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9" name="Google Shape;29;p1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" name="Google Shape;30;p1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1" name="Google Shape;31;p1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2" name="Google Shape;32;p18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3" name="Google Shape;33;p1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oogle Shape;35;p20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6" name="Google Shape;36;p20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" name="Google Shape;37;p20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8" name="Google Shape;38;p20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" name="Google Shape;39;p2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1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2" name="Google Shape;42;p21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2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" name="Google Shape;44;p2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5" name="Google Shape;45;p21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21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21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8" name="Google Shape;48;p2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1" name="Google Shape;51;p2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2" name="Google Shape;52;p2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" name="Google Shape;53;p2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4" name="Google Shape;54;p22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5" name="Google Shape;55;p2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3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8" name="Google Shape;58;p2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9" name="Google Shape;59;p2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" name="Google Shape;60;p2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1" name="Google Shape;61;p23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2" name="Google Shape;62;p23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3" name="Google Shape;63;p2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Google Shape;65;p24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66" name="Google Shape;66;p2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" name="Google Shape;67;p2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8" name="Google Shape;68;p24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" name="Google Shape;69;p2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5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2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26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2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" name="Google Shape;76;p2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7" name="Google Shape;77;p26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26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2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gif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1089717" y="1261900"/>
            <a:ext cx="6964565" cy="10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Topic: Communication Skills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117150" y="4474850"/>
            <a:ext cx="1530300" cy="5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b="1" lang="en"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June 20, 2026</a:t>
            </a:r>
            <a:endParaRPr b="1" sz="18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273250" y="1914700"/>
            <a:ext cx="8494800" cy="4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1" lang="en" sz="2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Key to Academic, Professional, and Personal Success </a:t>
            </a:r>
            <a:endParaRPr b="0" i="1" sz="2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1574250" y="2571750"/>
            <a:ext cx="5995500" cy="17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Microteaching Session</a:t>
            </a:r>
            <a:endParaRPr b="0" i="0" sz="2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Presented by:</a:t>
            </a:r>
            <a:br>
              <a:rPr b="0" i="0" lang="en" sz="2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0" lang="en" sz="2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Md. Dulal Hossain</a:t>
            </a:r>
            <a:endParaRPr b="0" i="0" sz="2600" u="none" cap="none" strike="noStrike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8" name="Google Shape;88;p1"/>
          <p:cNvSpPr/>
          <p:nvPr/>
        </p:nvSpPr>
        <p:spPr>
          <a:xfrm>
            <a:off x="603925" y="924400"/>
            <a:ext cx="1109100" cy="337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9" name="Google Shape;89;p1"/>
          <p:cNvSpPr/>
          <p:nvPr/>
        </p:nvSpPr>
        <p:spPr>
          <a:xfrm>
            <a:off x="0" y="0"/>
            <a:ext cx="9144000" cy="506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0" name="Google Shape;90;p1" title="Green_University_of_Bangladesh_logo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45638" y="0"/>
            <a:ext cx="2550019" cy="992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"/>
          <p:cNvSpPr txBox="1"/>
          <p:nvPr>
            <p:ph type="title"/>
          </p:nvPr>
        </p:nvSpPr>
        <p:spPr>
          <a:xfrm>
            <a:off x="0" y="1718250"/>
            <a:ext cx="3429000" cy="170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 sz="6000">
                <a:latin typeface="Times New Roman"/>
                <a:ea typeface="Times New Roman"/>
                <a:cs typeface="Times New Roman"/>
                <a:sym typeface="Times New Roman"/>
              </a:rPr>
              <a:t>Outline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6" name="Google Shape;96;p2"/>
          <p:cNvSpPr/>
          <p:nvPr/>
        </p:nvSpPr>
        <p:spPr>
          <a:xfrm>
            <a:off x="3429000" y="0"/>
            <a:ext cx="1143000" cy="5143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7" name="Google Shape;97;p2"/>
          <p:cNvSpPr txBox="1"/>
          <p:nvPr/>
        </p:nvSpPr>
        <p:spPr>
          <a:xfrm>
            <a:off x="3429000" y="220634"/>
            <a:ext cx="5583114" cy="478218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5486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Arial"/>
              <a:buAutoNum type="arabicPeriod"/>
            </a:pPr>
            <a:r>
              <a:rPr b="0" i="0" lang="en" sz="18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 </a:t>
            </a:r>
            <a:endParaRPr b="0" i="0" sz="1400" u="none" cap="none" strike="noStrike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548640" marR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Arial"/>
              <a:buAutoNum type="arabicPeriod"/>
            </a:pPr>
            <a:r>
              <a:rPr b="0" i="0" lang="en" sz="18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is Communication?</a:t>
            </a:r>
            <a:endParaRPr b="0" i="0" sz="1400" u="none" cap="none" strike="noStrike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548640" marR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Arial"/>
              <a:buAutoNum type="arabicPeriod"/>
            </a:pPr>
            <a:r>
              <a:rPr b="0" i="0" lang="en" sz="18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Why Communication Skills Matter?</a:t>
            </a:r>
            <a:endParaRPr b="0" i="0" sz="1400" u="none" cap="none" strike="noStrike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548640" marR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Arial"/>
              <a:buAutoNum type="arabicPeriod"/>
            </a:pPr>
            <a:r>
              <a:rPr b="0" i="0" lang="en" sz="18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Types of Communication </a:t>
            </a:r>
            <a:endParaRPr b="0" i="0" sz="1400" u="none" cap="none" strike="noStrike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548640" marR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Arial"/>
              <a:buAutoNum type="arabicPeriod"/>
            </a:pPr>
            <a:r>
              <a:rPr b="0" i="0" lang="en" sz="18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Characteristics of Effective Communication </a:t>
            </a:r>
            <a:endParaRPr b="0" i="0" sz="1400" u="none" cap="none" strike="noStrike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548640" marR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Arial"/>
              <a:buAutoNum type="arabicPeriod"/>
            </a:pPr>
            <a:r>
              <a:rPr b="0" i="0" lang="en" sz="18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Barriers to Effective Communication</a:t>
            </a:r>
            <a:endParaRPr b="0" i="0" sz="1400" u="none" cap="none" strike="noStrike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548640" marR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Arial"/>
              <a:buAutoNum type="arabicPeriod"/>
            </a:pPr>
            <a:r>
              <a:rPr b="0" i="0" lang="en" sz="18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Interactive Activity </a:t>
            </a:r>
            <a:endParaRPr b="0" i="0" sz="1400" u="none" cap="none" strike="noStrike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548640" marR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Arial"/>
              <a:buAutoNum type="arabicPeriod"/>
            </a:pPr>
            <a:r>
              <a:rPr b="0" i="0" lang="en" sz="18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Communication Skills for Researchers and Professionals </a:t>
            </a:r>
            <a:endParaRPr b="0" i="0" sz="1400" u="none" cap="none" strike="noStrike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548640" marR="0" rtl="0" algn="l">
              <a:lnSpc>
                <a:spcPct val="100000"/>
              </a:lnSpc>
              <a:spcBef>
                <a:spcPts val="1800"/>
              </a:spcBef>
              <a:spcAft>
                <a:spcPts val="1800"/>
              </a:spcAft>
              <a:buClr>
                <a:schemeClr val="accent1"/>
              </a:buClr>
              <a:buSzPts val="1300"/>
              <a:buFont typeface="Arial"/>
              <a:buAutoNum type="arabicPeriod"/>
            </a:pPr>
            <a:r>
              <a:rPr b="0" i="0" lang="en" sz="18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/>
          </a:p>
        </p:txBody>
      </p:sp>
      <p:sp>
        <p:nvSpPr>
          <p:cNvPr id="98" name="Google Shape;98;p2"/>
          <p:cNvSpPr txBox="1"/>
          <p:nvPr>
            <p:ph idx="12" type="sldNum"/>
          </p:nvPr>
        </p:nvSpPr>
        <p:spPr>
          <a:xfrm>
            <a:off x="8717738" y="4646289"/>
            <a:ext cx="426262" cy="49721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1" lang="en" sz="1400"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1"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7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"/>
          <p:cNvSpPr txBox="1"/>
          <p:nvPr>
            <p:ph type="title"/>
          </p:nvPr>
        </p:nvSpPr>
        <p:spPr>
          <a:xfrm>
            <a:off x="835853" y="637265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Introduction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4" name="Google Shape;104;p3"/>
          <p:cNvSpPr txBox="1"/>
          <p:nvPr>
            <p:ph idx="1" type="body"/>
          </p:nvPr>
        </p:nvSpPr>
        <p:spPr>
          <a:xfrm>
            <a:off x="725850" y="1592463"/>
            <a:ext cx="7688700" cy="136771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Think about a time when a misunderstanding created a problem in your study, workplace, or daily life. What caused that misunderstanding?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t/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5" name="Google Shape;105;p3"/>
          <p:cNvSpPr txBox="1"/>
          <p:nvPr/>
        </p:nvSpPr>
        <p:spPr>
          <a:xfrm>
            <a:off x="1554282" y="3077051"/>
            <a:ext cx="6035435" cy="136771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Most misunderstandings occur because communication was not effective. Today, we will learn how effective communication can improve our academic, professional, and personal lives.</a:t>
            </a:r>
            <a:endParaRPr/>
          </a:p>
        </p:txBody>
      </p:sp>
      <p:sp>
        <p:nvSpPr>
          <p:cNvPr id="106" name="Google Shape;106;p3"/>
          <p:cNvSpPr txBox="1"/>
          <p:nvPr>
            <p:ph idx="12" type="sldNum"/>
          </p:nvPr>
        </p:nvSpPr>
        <p:spPr>
          <a:xfrm>
            <a:off x="8717738" y="4646289"/>
            <a:ext cx="426262" cy="49721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1" lang="en" sz="1400"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1"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"/>
          <p:cNvSpPr txBox="1"/>
          <p:nvPr>
            <p:ph type="title"/>
          </p:nvPr>
        </p:nvSpPr>
        <p:spPr>
          <a:xfrm>
            <a:off x="812642" y="661329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is Communication?</a:t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2" name="Google Shape;112;p4"/>
          <p:cNvSpPr txBox="1"/>
          <p:nvPr>
            <p:ph idx="1" type="body"/>
          </p:nvPr>
        </p:nvSpPr>
        <p:spPr>
          <a:xfrm>
            <a:off x="1273969" y="2286727"/>
            <a:ext cx="5445192" cy="239590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46"/>
              <a:buNone/>
            </a:pPr>
            <a:r>
              <a:rPr b="1" lang="en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Communication Process:</a:t>
            </a:r>
            <a:endParaRPr b="1"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44"/>
              <a:buNone/>
            </a:pPr>
            <a:r>
              <a:rPr lang="en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Sender</a:t>
            </a:r>
            <a:br>
              <a:rPr lang="en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" sz="1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↓</a:t>
            </a:r>
            <a:br>
              <a:rPr lang="en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Message</a:t>
            </a:r>
            <a:br>
              <a:rPr lang="en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1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↓</a:t>
            </a:r>
            <a:br>
              <a:rPr lang="en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Channel (Speech, Email, Text, Presentation)</a:t>
            </a:r>
            <a:br>
              <a:rPr lang="en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1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↓</a:t>
            </a:r>
            <a:br>
              <a:rPr lang="en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Receiver</a:t>
            </a:r>
            <a:br>
              <a:rPr lang="en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1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↓</a:t>
            </a:r>
            <a:br>
              <a:rPr lang="en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Feedback</a:t>
            </a:r>
            <a:endParaRPr sz="1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4"/>
          <p:cNvSpPr txBox="1"/>
          <p:nvPr/>
        </p:nvSpPr>
        <p:spPr>
          <a:xfrm>
            <a:off x="899434" y="1441340"/>
            <a:ext cx="7515116" cy="84538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44"/>
              <a:buFont typeface="Lato"/>
              <a:buNone/>
            </a:pPr>
            <a:r>
              <a:rPr b="0" i="0" lang="en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Communication is the process of exchanging information, ideas, thoughts, emotions, and experiences between individuals or groups to achieve mutual understanding.</a:t>
            </a:r>
            <a:endParaRPr/>
          </a:p>
        </p:txBody>
      </p:sp>
      <p:sp>
        <p:nvSpPr>
          <p:cNvPr id="114" name="Google Shape;114;p4"/>
          <p:cNvSpPr txBox="1"/>
          <p:nvPr>
            <p:ph idx="12" type="sldNum"/>
          </p:nvPr>
        </p:nvSpPr>
        <p:spPr>
          <a:xfrm>
            <a:off x="8717738" y="4646289"/>
            <a:ext cx="426262" cy="49721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1" lang="en" sz="1400"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1"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"/>
          <p:cNvSpPr txBox="1"/>
          <p:nvPr>
            <p:ph type="title"/>
          </p:nvPr>
        </p:nvSpPr>
        <p:spPr>
          <a:xfrm>
            <a:off x="811953" y="658632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Why Communication Skills Matter ?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0" name="Google Shape;120;p5"/>
          <p:cNvSpPr txBox="1"/>
          <p:nvPr>
            <p:ph idx="1" type="body"/>
          </p:nvPr>
        </p:nvSpPr>
        <p:spPr>
          <a:xfrm>
            <a:off x="811953" y="1535625"/>
            <a:ext cx="2654100" cy="14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b="1"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Importance in Academic Life</a:t>
            </a:r>
            <a:endParaRPr b="1"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b="1" sz="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✓ Participating in class discussions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✓ Delivering presentations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✓ Writing assignments and reports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✓ Conducting research and       publishing papers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1" name="Google Shape;121;p5"/>
          <p:cNvSpPr txBox="1"/>
          <p:nvPr>
            <p:ph idx="1" type="body"/>
          </p:nvPr>
        </p:nvSpPr>
        <p:spPr>
          <a:xfrm>
            <a:off x="6308500" y="2911423"/>
            <a:ext cx="2654100" cy="14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b="1"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Importance in Personal Life</a:t>
            </a:r>
            <a:endParaRPr b="1"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b="1" sz="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✓ Building relationships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✓ Resolving conflicts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✓ Expressing thoughts clearly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✓ Developing trust</a:t>
            </a:r>
            <a:endParaRPr b="1"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2" name="Google Shape;122;p5"/>
          <p:cNvSpPr txBox="1"/>
          <p:nvPr>
            <p:ph idx="1" type="body"/>
          </p:nvPr>
        </p:nvSpPr>
        <p:spPr>
          <a:xfrm>
            <a:off x="3427000" y="2264775"/>
            <a:ext cx="2881500" cy="14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b="1"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Importance in Professional Life</a:t>
            </a:r>
            <a:endParaRPr b="1"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b="1" sz="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✓ Team collaboration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✓ Leadership and management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✓ Client communication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✓ Job interviews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✓ Workplace productivity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3" name="Google Shape;123;p5"/>
          <p:cNvSpPr txBox="1"/>
          <p:nvPr/>
        </p:nvSpPr>
        <p:spPr>
          <a:xfrm>
            <a:off x="1904100" y="4452225"/>
            <a:ext cx="5335800" cy="42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Real-Life Example: </a:t>
            </a:r>
            <a:r>
              <a:rPr b="0" i="0" lang="en" sz="11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Imagine a researcher discovers a breakthrough solution.</a:t>
            </a:r>
            <a:endParaRPr b="0" i="0" sz="1300" u="none" cap="none" strike="noStrike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4" name="Google Shape;124;p5"/>
          <p:cNvSpPr txBox="1"/>
          <p:nvPr>
            <p:ph idx="12" type="sldNum"/>
          </p:nvPr>
        </p:nvSpPr>
        <p:spPr>
          <a:xfrm>
            <a:off x="8717738" y="4646289"/>
            <a:ext cx="426262" cy="49721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1" lang="en" sz="1400"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1"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f177305850_0_0"/>
          <p:cNvSpPr txBox="1"/>
          <p:nvPr>
            <p:ph type="title"/>
          </p:nvPr>
        </p:nvSpPr>
        <p:spPr>
          <a:xfrm>
            <a:off x="818827" y="659199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Types of Communication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0" name="Google Shape;130;g3f177305850_0_0"/>
          <p:cNvSpPr/>
          <p:nvPr/>
        </p:nvSpPr>
        <p:spPr>
          <a:xfrm>
            <a:off x="1212425" y="2685056"/>
            <a:ext cx="1974343" cy="605100"/>
          </a:xfrm>
          <a:prstGeom prst="homePlat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8925" lIns="98925" spcFirstLastPara="1" rIns="98925" wrap="square" tIns="98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36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1" name="Google Shape;131;g3f177305850_0_0"/>
          <p:cNvSpPr txBox="1"/>
          <p:nvPr>
            <p:ph idx="4294967295" type="body"/>
          </p:nvPr>
        </p:nvSpPr>
        <p:spPr>
          <a:xfrm>
            <a:off x="1230263" y="2792746"/>
            <a:ext cx="1804061" cy="38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4225" lIns="74225" spcFirstLastPara="1" rIns="74225" wrap="square" tIns="742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55"/>
              <a:buNone/>
            </a:pPr>
            <a:r>
              <a:rPr b="1" lang="en" sz="1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Verbal Communication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32" name="Google Shape;132;g3f177305850_0_0"/>
          <p:cNvGrpSpPr/>
          <p:nvPr/>
        </p:nvGrpSpPr>
        <p:grpSpPr>
          <a:xfrm>
            <a:off x="2023488" y="2203105"/>
            <a:ext cx="166595" cy="481811"/>
            <a:chOff x="777447" y="1610215"/>
            <a:chExt cx="198900" cy="593656"/>
          </a:xfrm>
        </p:grpSpPr>
        <p:cxnSp>
          <p:nvCxnSpPr>
            <p:cNvPr id="133" name="Google Shape;133;g3f177305850_0_0"/>
            <p:cNvCxnSpPr/>
            <p:nvPr/>
          </p:nvCxnSpPr>
          <p:spPr>
            <a:xfrm>
              <a:off x="876909" y="1649171"/>
              <a:ext cx="0" cy="554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34" name="Google Shape;134;g3f177305850_0_0"/>
            <p:cNvSpPr/>
            <p:nvPr/>
          </p:nvSpPr>
          <p:spPr>
            <a:xfrm>
              <a:off x="777447" y="1610215"/>
              <a:ext cx="198900" cy="1989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74225" lIns="74225" spcFirstLastPara="1" rIns="74225" wrap="square" tIns="74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36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135" name="Google Shape;135;g3f177305850_0_0"/>
          <p:cNvSpPr txBox="1"/>
          <p:nvPr>
            <p:ph idx="4294967295" type="body"/>
          </p:nvPr>
        </p:nvSpPr>
        <p:spPr>
          <a:xfrm>
            <a:off x="1389564" y="1624376"/>
            <a:ext cx="1878675" cy="7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74225" lIns="74225" spcFirstLastPara="1" rIns="74225" wrap="square" tIns="74225">
            <a:normAutofit/>
          </a:bodyPr>
          <a:lstStyle/>
          <a:p>
            <a:pPr indent="-257703" lvl="0" marL="37109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36"/>
              <a:buFont typeface="Courier New"/>
              <a:buChar char="o"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Speaking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57703" lvl="0" marL="37109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36"/>
              <a:buFont typeface="Courier New"/>
              <a:buChar char="o"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Listening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6" name="Google Shape;136;g3f177305850_0_0"/>
          <p:cNvSpPr/>
          <p:nvPr/>
        </p:nvSpPr>
        <p:spPr>
          <a:xfrm>
            <a:off x="2806611" y="2685056"/>
            <a:ext cx="2031000" cy="605100"/>
          </a:xfrm>
          <a:prstGeom prst="chevron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8925" lIns="98925" spcFirstLastPara="1" rIns="98925" wrap="square" tIns="98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36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7" name="Google Shape;137;g3f177305850_0_0"/>
          <p:cNvSpPr txBox="1"/>
          <p:nvPr>
            <p:ph idx="4294967295" type="body"/>
          </p:nvPr>
        </p:nvSpPr>
        <p:spPr>
          <a:xfrm>
            <a:off x="3268239" y="2808798"/>
            <a:ext cx="1599103" cy="38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4225" lIns="74225" spcFirstLastPara="1" rIns="74225" wrap="square" tIns="742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55"/>
              <a:buNone/>
            </a:pPr>
            <a:r>
              <a:rPr b="1" lang="en" sz="1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Non-Verbal</a:t>
            </a:r>
            <a:r>
              <a:rPr lang="en" sz="1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" sz="1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Communication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38" name="Google Shape;138;g3f177305850_0_0"/>
          <p:cNvGrpSpPr/>
          <p:nvPr/>
        </p:nvGrpSpPr>
        <p:grpSpPr>
          <a:xfrm>
            <a:off x="3685165" y="3289964"/>
            <a:ext cx="166595" cy="481811"/>
            <a:chOff x="2223534" y="2938958"/>
            <a:chExt cx="198900" cy="593656"/>
          </a:xfrm>
        </p:grpSpPr>
        <p:cxnSp>
          <p:nvCxnSpPr>
            <p:cNvPr id="139" name="Google Shape;139;g3f177305850_0_0"/>
            <p:cNvCxnSpPr/>
            <p:nvPr/>
          </p:nvCxnSpPr>
          <p:spPr>
            <a:xfrm rot="10800000">
              <a:off x="2322997" y="2938958"/>
              <a:ext cx="0" cy="554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40" name="Google Shape;140;g3f177305850_0_0"/>
            <p:cNvSpPr/>
            <p:nvPr/>
          </p:nvSpPr>
          <p:spPr>
            <a:xfrm flipH="1" rot="10800000">
              <a:off x="2223534" y="3333714"/>
              <a:ext cx="198900" cy="1989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74225" lIns="74225" spcFirstLastPara="1" rIns="74225" wrap="square" tIns="74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36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141" name="Google Shape;141;g3f177305850_0_0"/>
          <p:cNvSpPr txBox="1"/>
          <p:nvPr>
            <p:ph idx="4294967295" type="body"/>
          </p:nvPr>
        </p:nvSpPr>
        <p:spPr>
          <a:xfrm>
            <a:off x="2906456" y="3614818"/>
            <a:ext cx="2138449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74225" lIns="74225" spcFirstLastPara="1" rIns="74225" wrap="square" tIns="74225">
            <a:noAutofit/>
          </a:bodyPr>
          <a:lstStyle/>
          <a:p>
            <a:pPr indent="-257703" lvl="0" marL="371091" rtl="0" algn="just">
              <a:lnSpc>
                <a:spcPct val="120000"/>
              </a:lnSpc>
              <a:spcBef>
                <a:spcPts val="974"/>
              </a:spcBef>
              <a:spcAft>
                <a:spcPts val="0"/>
              </a:spcAft>
              <a:buClr>
                <a:srgbClr val="000000"/>
              </a:buClr>
              <a:buSzPts val="1136"/>
              <a:buFont typeface="Courier New"/>
              <a:buChar char="o"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Body language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57703" lvl="0" marL="371091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36"/>
              <a:buFont typeface="Courier New"/>
              <a:buChar char="o"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Facial expressions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57703" lvl="0" marL="371091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36"/>
              <a:buFont typeface="Courier New"/>
              <a:buChar char="o"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Eye contact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57703" lvl="0" marL="371091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36"/>
              <a:buFont typeface="Courier New"/>
              <a:buChar char="o"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Gestures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2" name="Google Shape;142;g3f177305850_0_0"/>
          <p:cNvSpPr/>
          <p:nvPr/>
        </p:nvSpPr>
        <p:spPr>
          <a:xfrm>
            <a:off x="4464684" y="2685056"/>
            <a:ext cx="2031000" cy="605100"/>
          </a:xfrm>
          <a:prstGeom prst="chevron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8925" lIns="98925" spcFirstLastPara="1" rIns="98925" wrap="square" tIns="98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36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3" name="Google Shape;143;g3f177305850_0_0"/>
          <p:cNvSpPr txBox="1"/>
          <p:nvPr>
            <p:ph idx="4294967295" type="body"/>
          </p:nvPr>
        </p:nvSpPr>
        <p:spPr>
          <a:xfrm>
            <a:off x="4780954" y="2808798"/>
            <a:ext cx="1430322" cy="38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4225" lIns="74225" spcFirstLastPara="1" rIns="74225" wrap="square" tIns="742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55"/>
              <a:buNone/>
            </a:pPr>
            <a:r>
              <a:rPr b="1" lang="en" sz="1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Written Communication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44" name="Google Shape;144;g3f177305850_0_0"/>
          <p:cNvGrpSpPr/>
          <p:nvPr/>
        </p:nvGrpSpPr>
        <p:grpSpPr>
          <a:xfrm>
            <a:off x="5356886" y="2203105"/>
            <a:ext cx="166595" cy="481811"/>
            <a:chOff x="3918084" y="1610215"/>
            <a:chExt cx="198900" cy="593656"/>
          </a:xfrm>
        </p:grpSpPr>
        <p:cxnSp>
          <p:nvCxnSpPr>
            <p:cNvPr id="145" name="Google Shape;145;g3f177305850_0_0"/>
            <p:cNvCxnSpPr/>
            <p:nvPr/>
          </p:nvCxnSpPr>
          <p:spPr>
            <a:xfrm>
              <a:off x="4017546" y="1649171"/>
              <a:ext cx="0" cy="554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46" name="Google Shape;146;g3f177305850_0_0"/>
            <p:cNvSpPr/>
            <p:nvPr/>
          </p:nvSpPr>
          <p:spPr>
            <a:xfrm>
              <a:off x="3918084" y="1610215"/>
              <a:ext cx="198900" cy="1989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74225" lIns="74225" spcFirstLastPara="1" rIns="74225" wrap="square" tIns="74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36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147" name="Google Shape;147;g3f177305850_0_0"/>
          <p:cNvSpPr txBox="1"/>
          <p:nvPr>
            <p:ph idx="4294967295" type="body"/>
          </p:nvPr>
        </p:nvSpPr>
        <p:spPr>
          <a:xfrm>
            <a:off x="4780954" y="1261202"/>
            <a:ext cx="1878675" cy="7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74225" lIns="74225" spcFirstLastPara="1" rIns="74225" wrap="square" tIns="74225">
            <a:noAutofit/>
          </a:bodyPr>
          <a:lstStyle/>
          <a:p>
            <a:pPr indent="-171450" lvl="0" marL="284838" rtl="0" algn="l">
              <a:lnSpc>
                <a:spcPct val="115000"/>
              </a:lnSpc>
              <a:spcBef>
                <a:spcPts val="974"/>
              </a:spcBef>
              <a:spcAft>
                <a:spcPts val="0"/>
              </a:spcAft>
              <a:buClr>
                <a:srgbClr val="000000"/>
              </a:buClr>
              <a:buSzPts val="1136"/>
              <a:buFont typeface="Courier New"/>
              <a:buChar char="o"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Emails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1450" lvl="0" marL="28483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36"/>
              <a:buFont typeface="Courier New"/>
              <a:buChar char="o"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Reports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1450" lvl="0" marL="28483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36"/>
              <a:buFont typeface="Courier New"/>
              <a:buChar char="o"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Messages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8" name="Google Shape;148;g3f177305850_0_0"/>
          <p:cNvSpPr/>
          <p:nvPr/>
        </p:nvSpPr>
        <p:spPr>
          <a:xfrm>
            <a:off x="6128105" y="2685056"/>
            <a:ext cx="2031000" cy="605100"/>
          </a:xfrm>
          <a:prstGeom prst="chevron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8925" lIns="98925" spcFirstLastPara="1" rIns="98925" wrap="square" tIns="98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36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g3f177305850_0_0"/>
          <p:cNvSpPr txBox="1"/>
          <p:nvPr>
            <p:ph idx="4294967295" type="body"/>
          </p:nvPr>
        </p:nvSpPr>
        <p:spPr>
          <a:xfrm>
            <a:off x="6542251" y="2808798"/>
            <a:ext cx="1424177" cy="38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4225" lIns="74225" spcFirstLastPara="1" rIns="74225" wrap="square" tIns="742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55"/>
              <a:buNone/>
            </a:pPr>
            <a:r>
              <a:rPr b="1" lang="en" sz="1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Visual Communication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50" name="Google Shape;150;g3f177305850_0_0"/>
          <p:cNvGrpSpPr/>
          <p:nvPr/>
        </p:nvGrpSpPr>
        <p:grpSpPr>
          <a:xfrm>
            <a:off x="6836263" y="3289965"/>
            <a:ext cx="166595" cy="481811"/>
            <a:chOff x="5958946" y="2938958"/>
            <a:chExt cx="198900" cy="593656"/>
          </a:xfrm>
        </p:grpSpPr>
        <p:cxnSp>
          <p:nvCxnSpPr>
            <p:cNvPr id="151" name="Google Shape;151;g3f177305850_0_0"/>
            <p:cNvCxnSpPr/>
            <p:nvPr/>
          </p:nvCxnSpPr>
          <p:spPr>
            <a:xfrm rot="10800000">
              <a:off x="6058409" y="2938958"/>
              <a:ext cx="0" cy="554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52" name="Google Shape;152;g3f177305850_0_0"/>
            <p:cNvSpPr/>
            <p:nvPr/>
          </p:nvSpPr>
          <p:spPr>
            <a:xfrm flipH="1" rot="10800000">
              <a:off x="5958946" y="3333714"/>
              <a:ext cx="198900" cy="1989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74225" lIns="74225" spcFirstLastPara="1" rIns="74225" wrap="square" tIns="742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36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153" name="Google Shape;153;g3f177305850_0_0"/>
          <p:cNvSpPr txBox="1"/>
          <p:nvPr>
            <p:ph idx="4294967295" type="body"/>
          </p:nvPr>
        </p:nvSpPr>
        <p:spPr>
          <a:xfrm>
            <a:off x="6284439" y="3660770"/>
            <a:ext cx="1472165" cy="7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74225" lIns="74225" spcFirstLastPara="1" rIns="74225" wrap="square" tIns="74225">
            <a:noAutofit/>
          </a:bodyPr>
          <a:lstStyle/>
          <a:p>
            <a:pPr indent="-257703" lvl="0" marL="371091" rtl="0" algn="l">
              <a:lnSpc>
                <a:spcPct val="115000"/>
              </a:lnSpc>
              <a:spcBef>
                <a:spcPts val="974"/>
              </a:spcBef>
              <a:spcAft>
                <a:spcPts val="0"/>
              </a:spcAft>
              <a:buClr>
                <a:srgbClr val="000000"/>
              </a:buClr>
              <a:buSzPts val="1136"/>
              <a:buFont typeface="Courier New"/>
              <a:buChar char="o"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Charts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57703" lvl="0" marL="37109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36"/>
              <a:buFont typeface="Courier New"/>
              <a:buChar char="o"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Graphs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57703" lvl="0" marL="37109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36"/>
              <a:buFont typeface="Courier New"/>
              <a:buChar char="o"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Presentations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4" name="Google Shape;154;g3f177305850_0_0"/>
          <p:cNvSpPr txBox="1"/>
          <p:nvPr>
            <p:ph idx="12" type="sldNum"/>
          </p:nvPr>
        </p:nvSpPr>
        <p:spPr>
          <a:xfrm>
            <a:off x="8717738" y="4646289"/>
            <a:ext cx="426262" cy="49721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1" lang="en" sz="1400"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1"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7"/>
          <p:cNvSpPr txBox="1"/>
          <p:nvPr>
            <p:ph type="title"/>
          </p:nvPr>
        </p:nvSpPr>
        <p:spPr>
          <a:xfrm>
            <a:off x="832578" y="644881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Characteristics of Effective Communication </a:t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0" name="Google Shape;160;p7"/>
          <p:cNvSpPr txBox="1"/>
          <p:nvPr>
            <p:ph idx="1" type="body"/>
          </p:nvPr>
        </p:nvSpPr>
        <p:spPr>
          <a:xfrm>
            <a:off x="832578" y="1435576"/>
            <a:ext cx="5712601" cy="321071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b="1" lang="en" sz="1800" u="sng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7 Cs of Communication: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b="1" sz="1800" u="sng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28575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SzPts val="1300"/>
              <a:buFont typeface="Noto Sans Symbols"/>
              <a:buChar char="❑"/>
            </a:pPr>
            <a:r>
              <a:rPr b="1" lang="en" sz="14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Clear-</a:t>
            </a:r>
            <a:r>
              <a:rPr lang="en" sz="14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Clear means the message should be easy to understand.</a:t>
            </a:r>
            <a:endParaRPr/>
          </a:p>
          <a:p>
            <a:pPr indent="-285750" lvl="0" marL="28575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SzPts val="1300"/>
              <a:buFont typeface="Noto Sans Symbols"/>
              <a:buChar char="❑"/>
            </a:pPr>
            <a:r>
              <a:rPr b="1" lang="en" sz="14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Concise-</a:t>
            </a:r>
            <a:r>
              <a:rPr lang="en" sz="14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Concise means avoiding unnecessary information.</a:t>
            </a:r>
            <a:endParaRPr/>
          </a:p>
          <a:p>
            <a:pPr indent="-285750" lvl="0" marL="28575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SzPts val="1300"/>
              <a:buFont typeface="Noto Sans Symbols"/>
              <a:buChar char="❑"/>
            </a:pPr>
            <a:r>
              <a:rPr b="1" lang="en" sz="14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Concrete-</a:t>
            </a:r>
            <a:r>
              <a:rPr lang="en" sz="14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Concrete means providing specific information.</a:t>
            </a:r>
            <a:endParaRPr/>
          </a:p>
          <a:p>
            <a:pPr indent="-285750" lvl="0" marL="28575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SzPts val="1300"/>
              <a:buFont typeface="Noto Sans Symbols"/>
              <a:buChar char="❑"/>
            </a:pPr>
            <a:r>
              <a:rPr b="1" lang="en" sz="14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Correct-</a:t>
            </a:r>
            <a:r>
              <a:rPr lang="en" sz="14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Correct means the information should be accurate.</a:t>
            </a:r>
            <a:endParaRPr/>
          </a:p>
          <a:p>
            <a:pPr indent="-285750" lvl="0" marL="28575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SzPts val="1300"/>
              <a:buFont typeface="Noto Sans Symbols"/>
              <a:buChar char="❑"/>
            </a:pPr>
            <a:r>
              <a:rPr b="1" lang="en" sz="14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Coherent-</a:t>
            </a:r>
            <a:r>
              <a:rPr lang="en" sz="14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Coherent means the message should have proper structure.</a:t>
            </a:r>
            <a:endParaRPr/>
          </a:p>
          <a:p>
            <a:pPr indent="-285750" lvl="0" marL="28575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SzPts val="1300"/>
              <a:buFont typeface="Noto Sans Symbols"/>
              <a:buChar char="❑"/>
            </a:pPr>
            <a:r>
              <a:rPr b="1" lang="en" sz="14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Complete-</a:t>
            </a:r>
            <a:r>
              <a:rPr lang="en" sz="14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Complete means including all necessary details.</a:t>
            </a:r>
            <a:endParaRPr/>
          </a:p>
          <a:p>
            <a:pPr indent="-285750" lvl="0" marL="28575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SzPts val="1300"/>
              <a:buFont typeface="Noto Sans Symbols"/>
              <a:buChar char="❑"/>
            </a:pPr>
            <a:r>
              <a:rPr b="1" lang="en" sz="14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Courteous-</a:t>
            </a:r>
            <a:r>
              <a:rPr lang="en" sz="14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Courteous means communicating respectfully.</a:t>
            </a:r>
            <a:endParaRPr sz="16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1" name="Google Shape;161;p7"/>
          <p:cNvSpPr txBox="1"/>
          <p:nvPr>
            <p:ph idx="1" type="body"/>
          </p:nvPr>
        </p:nvSpPr>
        <p:spPr>
          <a:xfrm>
            <a:off x="6463605" y="1976938"/>
            <a:ext cx="2570392" cy="21279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b="1" lang="en" sz="1800" u="sng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Tips:</a:t>
            </a:r>
            <a:endParaRPr/>
          </a:p>
          <a:p>
            <a:pPr indent="-171450" lvl="0" marL="1714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Font typeface="Noto Sans Symbols"/>
              <a:buChar char="✔"/>
            </a:pPr>
            <a:r>
              <a:rPr lang="en" sz="14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Listen actively</a:t>
            </a:r>
            <a:endParaRPr/>
          </a:p>
          <a:p>
            <a:pPr indent="-171450" lvl="0" marL="1714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Font typeface="Noto Sans Symbols"/>
              <a:buChar char="✔"/>
            </a:pPr>
            <a:r>
              <a:rPr lang="en" sz="14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Maintain eye contact</a:t>
            </a:r>
            <a:endParaRPr/>
          </a:p>
          <a:p>
            <a:pPr indent="-171450" lvl="0" marL="1714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Font typeface="Noto Sans Symbols"/>
              <a:buChar char="✔"/>
            </a:pPr>
            <a:r>
              <a:rPr lang="en" sz="14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 simple language</a:t>
            </a:r>
            <a:endParaRPr/>
          </a:p>
          <a:p>
            <a:pPr indent="-171450" lvl="0" marL="1714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Font typeface="Noto Sans Symbols"/>
              <a:buChar char="✔"/>
            </a:pPr>
            <a:r>
              <a:rPr lang="en" sz="14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Ask questions for clarification</a:t>
            </a:r>
            <a:endParaRPr sz="14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t/>
            </a:r>
            <a:endParaRPr sz="12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2" name="Google Shape;162;p7"/>
          <p:cNvSpPr txBox="1"/>
          <p:nvPr>
            <p:ph idx="12" type="sldNum"/>
          </p:nvPr>
        </p:nvSpPr>
        <p:spPr>
          <a:xfrm>
            <a:off x="8717738" y="4646289"/>
            <a:ext cx="426262" cy="49721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1" lang="en" sz="1400"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1"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0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8"/>
          <p:cNvSpPr txBox="1"/>
          <p:nvPr>
            <p:ph type="title"/>
          </p:nvPr>
        </p:nvSpPr>
        <p:spPr>
          <a:xfrm>
            <a:off x="825703" y="638007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Barriers to Effective Communication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8" name="Google Shape;168;p8"/>
          <p:cNvSpPr txBox="1"/>
          <p:nvPr>
            <p:ph idx="1" type="body"/>
          </p:nvPr>
        </p:nvSpPr>
        <p:spPr>
          <a:xfrm>
            <a:off x="2096951" y="1780145"/>
            <a:ext cx="3482066" cy="209369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oto Sans Symbols"/>
              <a:buChar char="❖"/>
            </a:pPr>
            <a:r>
              <a:rPr lang="en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Physical barriers</a:t>
            </a:r>
            <a:endParaRPr sz="1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oto Sans Symbols"/>
              <a:buChar char="❖"/>
            </a:pPr>
            <a:r>
              <a:rPr lang="en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Language barriers</a:t>
            </a:r>
            <a:endParaRPr sz="1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oto Sans Symbols"/>
              <a:buChar char="❖"/>
            </a:pPr>
            <a:r>
              <a:rPr lang="en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Psychological barriers</a:t>
            </a:r>
            <a:endParaRPr sz="1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oto Sans Symbols"/>
              <a:buChar char="❖"/>
            </a:pPr>
            <a:r>
              <a:rPr lang="en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Cultural barriers</a:t>
            </a:r>
            <a:endParaRPr sz="1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oto Sans Symbols"/>
              <a:buChar char="❖"/>
            </a:pPr>
            <a:r>
              <a:rPr lang="en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Strategies to overcome barriers</a:t>
            </a:r>
            <a:endParaRPr sz="1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9" name="Google Shape;169;p8"/>
          <p:cNvSpPr txBox="1"/>
          <p:nvPr>
            <p:ph idx="12" type="sldNum"/>
          </p:nvPr>
        </p:nvSpPr>
        <p:spPr>
          <a:xfrm>
            <a:off x="8717738" y="4646289"/>
            <a:ext cx="426262" cy="49721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1" lang="en" sz="1400"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1"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9"/>
          <p:cNvSpPr txBox="1"/>
          <p:nvPr>
            <p:ph type="title"/>
          </p:nvPr>
        </p:nvSpPr>
        <p:spPr>
          <a:xfrm>
            <a:off x="825703" y="651756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Interactive Activity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5" name="Google Shape;175;p9"/>
          <p:cNvSpPr txBox="1"/>
          <p:nvPr>
            <p:ph idx="1" type="body"/>
          </p:nvPr>
        </p:nvSpPr>
        <p:spPr>
          <a:xfrm>
            <a:off x="919824" y="1705284"/>
            <a:ext cx="3332708" cy="142358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84"/>
              <a:buNone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Imagine your team leader says:</a:t>
            </a:r>
            <a:b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"Finish the report as soon as possible.“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84"/>
              <a:buNone/>
            </a:pPr>
            <a:r>
              <a:t/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784"/>
              <a:buNone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important information is missing?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6" name="Google Shape;176;p9"/>
          <p:cNvSpPr txBox="1"/>
          <p:nvPr>
            <p:ph idx="1" type="body"/>
          </p:nvPr>
        </p:nvSpPr>
        <p:spPr>
          <a:xfrm>
            <a:off x="4877719" y="2012986"/>
            <a:ext cx="3174484" cy="142358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b="1" lang="en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Expected Answers:</a:t>
            </a:r>
            <a:endParaRPr/>
          </a:p>
          <a:p>
            <a:pPr indent="-285750" lvl="0" marL="2857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Noto Sans Symbols"/>
              <a:buChar char="⮚"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Deadline</a:t>
            </a:r>
            <a:endParaRPr/>
          </a:p>
          <a:p>
            <a:pPr indent="-285750" lvl="0" marL="2857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Noto Sans Symbols"/>
              <a:buChar char="⮚"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Required format</a:t>
            </a:r>
            <a:endParaRPr/>
          </a:p>
          <a:p>
            <a:pPr indent="-285750" lvl="0" marL="2857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Noto Sans Symbols"/>
              <a:buChar char="⮚"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Priority level</a:t>
            </a:r>
            <a:endParaRPr/>
          </a:p>
          <a:p>
            <a:pPr indent="-285750" lvl="0" marL="2857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Noto Sans Symbols"/>
              <a:buChar char="⮚"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Expected length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7" name="Google Shape;177;p9"/>
          <p:cNvSpPr txBox="1"/>
          <p:nvPr>
            <p:ph idx="12" type="sldNum"/>
          </p:nvPr>
        </p:nvSpPr>
        <p:spPr>
          <a:xfrm>
            <a:off x="8717738" y="4646289"/>
            <a:ext cx="426262" cy="49721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1" lang="en" sz="1400"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1"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8" name="Google Shape;178;p9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0"/>
          <p:cNvSpPr txBox="1"/>
          <p:nvPr>
            <p:ph type="title"/>
          </p:nvPr>
        </p:nvSpPr>
        <p:spPr>
          <a:xfrm>
            <a:off x="832577" y="686133"/>
            <a:ext cx="7688700" cy="49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Communication Skills for Researchers and Professionals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4" name="Google Shape;184;p10"/>
          <p:cNvSpPr txBox="1"/>
          <p:nvPr>
            <p:ph idx="1" type="body"/>
          </p:nvPr>
        </p:nvSpPr>
        <p:spPr>
          <a:xfrm>
            <a:off x="1833644" y="1610107"/>
            <a:ext cx="4387673" cy="267776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171450" lvl="0" marL="1714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Research paper writing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1450" lvl="0" marL="17145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Literature review and documentation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1450" lvl="0" marL="17145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Presentation and public speaking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1450" lvl="0" marL="17145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Team collaboration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1450" lvl="0" marL="17145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Teaching and mentoring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1450" lvl="0" marL="17145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Char char="●"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Importance for Research Assistants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5" name="Google Shape;185;p10"/>
          <p:cNvSpPr txBox="1"/>
          <p:nvPr>
            <p:ph idx="12" type="sldNum"/>
          </p:nvPr>
        </p:nvSpPr>
        <p:spPr>
          <a:xfrm>
            <a:off x="8717738" y="4646289"/>
            <a:ext cx="426262" cy="49721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1" lang="en" sz="1400"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1"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1"/>
          <p:cNvSpPr txBox="1"/>
          <p:nvPr>
            <p:ph type="title"/>
          </p:nvPr>
        </p:nvSpPr>
        <p:spPr>
          <a:xfrm>
            <a:off x="825702" y="690086"/>
            <a:ext cx="7688700" cy="49639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Conclusion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1" name="Google Shape;191;p11"/>
          <p:cNvSpPr txBox="1"/>
          <p:nvPr>
            <p:ph idx="1" type="body"/>
          </p:nvPr>
        </p:nvSpPr>
        <p:spPr>
          <a:xfrm>
            <a:off x="878920" y="1501898"/>
            <a:ext cx="5170188" cy="208536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89"/>
              <a:buNone/>
            </a:pPr>
            <a:r>
              <a:rPr b="1" lang="en" sz="1400" u="sng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Takeaways:</a:t>
            </a:r>
            <a:br>
              <a:rPr lang="en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2857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61"/>
              <a:buFont typeface="Noto Sans Symbols"/>
              <a:buChar char="❑"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Communication is a two-way process.</a:t>
            </a:r>
            <a:endParaRPr/>
          </a:p>
          <a:p>
            <a:pPr indent="-285750" lvl="0" marL="2857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61"/>
              <a:buFont typeface="Noto Sans Symbols"/>
              <a:buChar char="❑"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Effective communication improves personal and professional success.</a:t>
            </a:r>
            <a:endParaRPr/>
          </a:p>
          <a:p>
            <a:pPr indent="-285750" lvl="0" marL="2857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61"/>
              <a:buFont typeface="Noto Sans Symbols"/>
              <a:buChar char="❑"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Verbal, non-verbal, written, and visual communication all matter.</a:t>
            </a:r>
            <a:endParaRPr/>
          </a:p>
          <a:p>
            <a:pPr indent="-285750" lvl="0" marL="2857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61"/>
              <a:buFont typeface="Noto Sans Symbols"/>
              <a:buChar char="❑"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Applying the 7 Cs makes communication more effective.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2" name="Google Shape;192;p11"/>
          <p:cNvSpPr txBox="1"/>
          <p:nvPr/>
        </p:nvSpPr>
        <p:spPr>
          <a:xfrm>
            <a:off x="657777" y="3641602"/>
            <a:ext cx="7688700" cy="6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4605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" sz="15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"The art of communication is the language of leadership."</a:t>
            </a:r>
            <a:br>
              <a:rPr b="0" i="0" lang="en" sz="15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" sz="15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— </a:t>
            </a:r>
            <a:r>
              <a:rPr b="0" i="1" lang="en" sz="15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James Humes</a:t>
            </a:r>
            <a:endParaRPr b="0" i="0" sz="1500" u="none" cap="none" strike="noStrike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3" name="Google Shape;193;p11"/>
          <p:cNvSpPr txBox="1"/>
          <p:nvPr/>
        </p:nvSpPr>
        <p:spPr>
          <a:xfrm>
            <a:off x="0" y="4326275"/>
            <a:ext cx="9143999" cy="8172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4605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None/>
            </a:pPr>
            <a:r>
              <a:rPr b="1" i="0" lang="en" sz="1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"The ability to communicate effectively is one of the most valuable skills in research, leadership, and innovation. "</a:t>
            </a:r>
            <a:endParaRPr/>
          </a:p>
          <a:p>
            <a:pPr indent="0" lvl="0" marL="14605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None/>
            </a:pPr>
            <a:r>
              <a:rPr b="0" i="0" lang="en" sz="1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— </a:t>
            </a:r>
            <a:endParaRPr b="1" i="0" sz="1400" u="none" cap="none" strike="noStrike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4" name="Google Shape;194;p11"/>
          <p:cNvSpPr txBox="1"/>
          <p:nvPr>
            <p:ph idx="12" type="sldNum"/>
          </p:nvPr>
        </p:nvSpPr>
        <p:spPr>
          <a:xfrm>
            <a:off x="8717738" y="4646289"/>
            <a:ext cx="426262" cy="49721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1" lang="en" sz="1400"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1"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What is Programming?. Programming is a way for us to give… | by Rafay Syed  | The Startup | Medium" id="199" name="Google Shape;199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23647" y="587530"/>
            <a:ext cx="4104391" cy="2788289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2"/>
          <p:cNvSpPr txBox="1"/>
          <p:nvPr>
            <p:ph type="title"/>
          </p:nvPr>
        </p:nvSpPr>
        <p:spPr>
          <a:xfrm>
            <a:off x="934357" y="3256877"/>
            <a:ext cx="7275286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b="1" lang="en" sz="5600">
                <a:latin typeface="Bookman Old Style"/>
                <a:ea typeface="Bookman Old Style"/>
                <a:cs typeface="Bookman Old Style"/>
                <a:sym typeface="Bookman Old Style"/>
              </a:rPr>
              <a:t>Thank You</a:t>
            </a:r>
            <a:endParaRPr b="1" sz="5600"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201" name="Google Shape;201;p12"/>
          <p:cNvSpPr txBox="1"/>
          <p:nvPr>
            <p:ph idx="12" type="sldNum"/>
          </p:nvPr>
        </p:nvSpPr>
        <p:spPr>
          <a:xfrm>
            <a:off x="8717738" y="4646289"/>
            <a:ext cx="426262" cy="49721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1" lang="en" sz="1400"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1"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2" name="Google Shape;202;p12"/>
          <p:cNvSpPr txBox="1"/>
          <p:nvPr/>
        </p:nvSpPr>
        <p:spPr>
          <a:xfrm>
            <a:off x="934357" y="4085229"/>
            <a:ext cx="7275286" cy="49721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Keep Learning, Keep Grinding</a:t>
            </a:r>
            <a:endParaRPr b="1" i="0" sz="1800" u="none" cap="none" strike="noStrike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5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100"/>
                                        <p:tgtEl>
                                          <p:spTgt spid="1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100"/>
                                        <p:tgtEl>
                                          <p:spTgt spid="1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User</dc:creator>
</cp:coreProperties>
</file>